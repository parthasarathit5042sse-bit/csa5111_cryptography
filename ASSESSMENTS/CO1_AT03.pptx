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9365C"/>
                </a:solidFill>
                <a:latin typeface="Aptos"/>
              </a:defRPr>
            </a:pPr>
            <a:r>
              <a:t>SECURITY ATTACKS, THREATS,</a:t>
            </a:r>
          </a:p>
          <a:p>
            <a:pPr>
              <a:spcAft>
                <a:spcPts val="700"/>
              </a:spcAft>
              <a:defRPr sz="3100" b="1">
                <a:solidFill>
                  <a:srgbClr val="19365C"/>
                </a:solidFill>
                <a:latin typeface="Aptos"/>
              </a:defRPr>
            </a:pPr>
            <a:r>
              <a:t>RISKS &amp; THEIR IMPACT ON SECURITY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08791"/>
                </a:solidFill>
                <a:latin typeface="Aptos"/>
              </a:defRPr>
            </a:pPr>
            <a:r>
              <a:t>Understanding cybersecurity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074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Prepared by: Partha Sarathi Talapala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5961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47382"/>
                </a:solidFill>
                <a:latin typeface="Aptos"/>
              </a:defRPr>
            </a:pPr>
            <a:r>
              <a:t>Information Security • Confidentiality • Integrity • Availability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Why security matters in a connected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520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55648"/>
            <a:ext cx="54864" cy="1655063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Digital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546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Personal data, passwords, financial records, business files, and services need protection.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55648"/>
            <a:ext cx="54864" cy="1655063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Common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Weak passwords, unsafe links, unpatched software, and misconfigured systems create openings.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520440" cy="1874519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55648"/>
            <a:ext cx="54864" cy="1655063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Security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1546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Reduce the chance of incidents and limit damage when something goes wrong.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9365C"/>
                </a:solidFill>
                <a:latin typeface="Aptos"/>
              </a:defRPr>
            </a:pPr>
            <a:r>
              <a:t>Cybersecurity combines people, processes, and technology to protect systems and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2. Security Goals: The CIA Triad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The three core goals of information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52044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55648"/>
            <a:ext cx="54864" cy="2112263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54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Only authorized people or systems can access information.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Example: Encrypting a private student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55648"/>
            <a:ext cx="54864" cy="2112263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Information remains accurate, complete, and unaltered without authorization.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Example: Preventing a grade from being 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520440" cy="23317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55648"/>
            <a:ext cx="54864" cy="2112263"/>
          </a:xfrm>
          <a:prstGeom prst="rect">
            <a:avLst/>
          </a:prstGeom>
          <a:solidFill>
            <a:srgbClr val="19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1546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Systems and data are accessible when authorized users need them.</a:t>
            </a:r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Example: Keeping a college portal online during exams.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47382"/>
                </a:solidFill>
                <a:latin typeface="Aptos"/>
              </a:defRPr>
            </a:pPr>
            <a:r>
              <a:t>Other goals may include authenticity, accountability, and non-repudiation.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3. What Is a Threat, Vulnerability, Risk, and Attack?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Related terms—but they do not mean the same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97480" cy="21945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09928"/>
            <a:ext cx="54864" cy="1975104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 potential cause of harm.</a:t>
            </a:r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Example: A cybercriminal or malware.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697480" cy="21945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709928"/>
            <a:ext cx="54864" cy="1975104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17190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167128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 weakness that can be exploited.</a:t>
            </a:r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Example: Outdated software.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00200"/>
            <a:ext cx="2697480" cy="21945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709928"/>
            <a:ext cx="54864" cy="1975104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7" y="17190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Attack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2167128"/>
            <a:ext cx="2331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An attempt to exploit a weakness.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Example: A phishing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600200"/>
            <a:ext cx="2148840" cy="21945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18320" y="1709928"/>
            <a:ext cx="54864" cy="19751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9488" y="171907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167128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5"/>
                </a:solidFill>
                <a:latin typeface="Aptos"/>
              </a:defRPr>
            </a:pPr>
            <a:r>
              <a:t>Likelihood and impact of harm.</a:t>
            </a:r>
          </a:p>
          <a:p>
            <a:pPr>
              <a:spcAft>
                <a:spcPts val="700"/>
              </a:spcAft>
              <a:defRPr sz="1400" b="0">
                <a:solidFill>
                  <a:srgbClr val="232B35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400" b="0">
                <a:solidFill>
                  <a:srgbClr val="232B35"/>
                </a:solidFill>
                <a:latin typeface="Aptos"/>
              </a:defRPr>
            </a:pPr>
            <a:r>
              <a:t>Example: Account takeover.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9365C"/>
                </a:solidFill>
                <a:latin typeface="Aptos"/>
              </a:defRPr>
            </a:pPr>
            <a:r>
              <a:t>Simple chain: Threat + Vulnerability → possible Attack → Risk of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4. Common Types of Security Attacks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Examples of how attackers try to compromise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18488"/>
            <a:ext cx="54864" cy="1197864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Phishing &amp; social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Trick users into revealing credentials or opening malicious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18488"/>
            <a:ext cx="54864" cy="1197864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2763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Malware &amp; ransomware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Malicious software steals data, disrupts systems, or encrypts files for extortion.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530352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54864" cy="1197864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27355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Password &amp; credential attacks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72160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Guessing, reusing, or stealing passwords to gain unauthorized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30352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64408"/>
            <a:ext cx="54864" cy="1197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27355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Denial-of-service (DoS/DDoS)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21608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Overwhelming a service so legitimate users cannot access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47382"/>
                </a:solidFill>
                <a:latin typeface="Aptos"/>
              </a:defRPr>
            </a:pPr>
            <a:r>
              <a:t>Other examples include injection attacks, spoofing, insider misuse, and eavesdropping.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5. Threats and Their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Threats can be accidental, environmental, or deliberate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55648"/>
            <a:ext cx="54864" cy="1837943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Human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Sending a file to the wrong person, weak passwords, accidental deletion.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55648"/>
            <a:ext cx="54864" cy="1837943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Technical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Hardware failure, software bugs, power loss, or network outages.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55648"/>
            <a:ext cx="54864" cy="1837943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Malicious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Cybercriminals, fraudsters, malicious insiders, or organized groups.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9365C"/>
                </a:solidFill>
                <a:latin typeface="Aptos"/>
              </a:defRPr>
            </a:pPr>
            <a:r>
              <a:t>A threat becomes more serious when a system has exploitable vulnerabilities and weak safeguards.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6. Understanding Security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Risk depends on how likely an event is and how severe its consequences may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764AA"/>
                </a:solidFill>
                <a:latin typeface="Aptos"/>
              </a:defRPr>
            </a:pPr>
            <a:r>
              <a:t>Conceptual formula:  Risk ≈ Likelihood ×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166360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41448"/>
            <a:ext cx="54864" cy="12893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5059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How probable is the incident, given the threat and existing controls?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166360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441448"/>
            <a:ext cx="54864" cy="1289304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98648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How much damage could it cause to people, data, money, or operations?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65C"/>
                </a:solidFill>
                <a:latin typeface="Aptos"/>
              </a:defRPr>
            </a:pPr>
            <a:r>
              <a:t>Example: An unpatched public-facing server may have higher risk if it stores sensitive data and has no effective backup or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7. Impact on Security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One attack can affect one or several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224028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09928"/>
            <a:ext cx="54864" cy="2020824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Confidentiality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Data theft, leaked passwords, exposure of private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224028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09928"/>
            <a:ext cx="54864" cy="2020824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Integrity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Changed transactions, altered grades, tampered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224028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09928"/>
            <a:ext cx="54864" cy="2020824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190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Availability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67128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2B35"/>
                </a:solidFill>
                <a:latin typeface="Aptos"/>
              </a:defRPr>
            </a:pPr>
            <a:r>
              <a:t>Service outages, locked files, unavailable websites.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65C"/>
                </a:solidFill>
                <a:latin typeface="Aptos"/>
              </a:defRPr>
            </a:pPr>
            <a:r>
              <a:t>Example: Ransomware can harm availability by locking files, and may also threaten confidentiality if data is stolen.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8. Attack-to-Goal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Quick examples for exams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834640" cy="576072"/>
          </a:xfrm>
          <a:prstGeom prst="rect">
            <a:avLst/>
          </a:prstGeom>
          <a:solidFill>
            <a:srgbClr val="19365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Attack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554480"/>
            <a:ext cx="3108960" cy="576072"/>
          </a:xfrm>
          <a:prstGeom prst="rect">
            <a:avLst/>
          </a:prstGeom>
          <a:solidFill>
            <a:srgbClr val="19365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Main goal affected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554480"/>
            <a:ext cx="4572000" cy="576072"/>
          </a:xfrm>
          <a:prstGeom prst="rect">
            <a:avLst/>
          </a:prstGeom>
          <a:solidFill>
            <a:srgbClr val="19365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Possible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30552"/>
            <a:ext cx="283464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Phishing / credential theft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30552"/>
            <a:ext cx="310896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30552"/>
            <a:ext cx="457200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Unauthorized account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06624"/>
            <a:ext cx="28346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Unauthorized data modification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706624"/>
            <a:ext cx="31089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706624"/>
            <a:ext cx="45720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Incorrect or fraudulent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82696"/>
            <a:ext cx="283464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DDoS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282696"/>
            <a:ext cx="310896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282696"/>
            <a:ext cx="457200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Legitimate users cannot access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58768"/>
            <a:ext cx="28346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Ransomware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858768"/>
            <a:ext cx="31089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Availability; possibly confidentiality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858768"/>
            <a:ext cx="45720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Files locked; data may be stolen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283464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Eavesdropping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434840"/>
            <a:ext cx="310896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434840"/>
            <a:ext cx="4572000" cy="576072"/>
          </a:xfrm>
          <a:prstGeom prst="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ctr">
              <a:defRPr sz="1300" b="0">
                <a:solidFill>
                  <a:srgbClr val="232B35"/>
                </a:solidFill>
                <a:latin typeface="Aptos"/>
              </a:defRPr>
            </a:pPr>
            <a:r>
              <a:t>Private communication exposed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008791"/>
                </a:solidFill>
                <a:latin typeface="Aptos"/>
              </a:defRPr>
            </a:pPr>
            <a:r>
              <a:t>The same incident may affect multiple security goals.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9. Prevention and Risk Reduction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Layered security reduces the chance and impact of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64207"/>
            <a:ext cx="54864" cy="1837943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Security awareness, verify requests, report suspicious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64207"/>
            <a:ext cx="54864" cy="1837943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Access reviews, backups, incident response plans, risk assessments.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52044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64207"/>
            <a:ext cx="54864" cy="1837943"/>
          </a:xfrm>
          <a:prstGeom prst="rect">
            <a:avLst/>
          </a:prstGeom>
          <a:solidFill>
            <a:srgbClr val="19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6733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MFA, encryption, patching, firewalls, endpoint protection,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65C"/>
                </a:solidFill>
                <a:latin typeface="Aptos"/>
              </a:defRPr>
            </a:pPr>
            <a:r>
              <a:t>Good practice: use least privilege, keep tested backups, update systems, and prepare an incident response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65C"/>
                </a:solidFill>
                <a:latin typeface="Aptos"/>
              </a:defRPr>
            </a:pPr>
            <a:r>
              <a:t>10. Mini Case Study: College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486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382"/>
                </a:solidFill>
                <a:latin typeface="Aptos"/>
              </a:defRPr>
            </a:pPr>
            <a:r>
              <a:t>Apply the concepts to a familiar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73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18488"/>
            <a:ext cx="54864" cy="1152144"/>
          </a:xfrm>
          <a:prstGeom prst="rect">
            <a:avLst/>
          </a:prstGeom>
          <a:solidFill>
            <a:srgbClr val="B4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 student receives a fake portal login link and enters their password.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18488"/>
            <a:ext cx="54864" cy="1152144"/>
          </a:xfrm>
          <a:prstGeom prst="rect">
            <a:avLst/>
          </a:prstGeom>
          <a:solidFill>
            <a:srgbClr val="BE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27631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Threat &amp; 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Phishing threat; user trust and lack of MFA may increase exposure.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5303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64408"/>
            <a:ext cx="54864" cy="1152144"/>
          </a:xfrm>
          <a:prstGeom prst="rect">
            <a:avLst/>
          </a:prstGeom>
          <a:solidFill>
            <a:srgbClr val="27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27355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Attack &amp;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72160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Attacker logs in and may view or modify student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303520" cy="1371600"/>
          </a:xfrm>
          <a:prstGeom prst="roundRect">
            <a:avLst/>
          </a:prstGeom>
          <a:solidFill>
            <a:srgbClr val="F4F8FC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64408"/>
            <a:ext cx="54864" cy="115214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273552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Security goals affected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21608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5"/>
                </a:solidFill>
                <a:latin typeface="Aptos"/>
              </a:defRPr>
            </a:pPr>
            <a:r>
              <a:t>Confidentiality and potentially integrity; availability if the account is disrupted.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C"/>
                </a:solidFill>
                <a:latin typeface="Aptos"/>
              </a:defRPr>
            </a:pPr>
            <a:r>
              <a:t>Controls: report the link, reset credentials, enable MFA, review logs, and correct altered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9365C"/>
                </a:solidFill>
                <a:latin typeface="Aptos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32B35"/>
                </a:solidFill>
                <a:latin typeface="Aptos"/>
              </a:defRPr>
            </a:pPr>
            <a:r>
              <a:t>• A threat is a potential cause of harm; a vulnerability is a weakness.</a:t>
            </a:r>
          </a:p>
          <a:p>
            <a:pPr>
              <a:spcAft>
                <a:spcPts val="700"/>
              </a:spcAft>
              <a:defRPr sz="2000" b="0">
                <a:solidFill>
                  <a:srgbClr val="232B35"/>
                </a:solidFill>
                <a:latin typeface="Aptos"/>
              </a:defRPr>
            </a:pPr>
            <a:r>
              <a:t>• An attack attempts to exploit a weakness.</a:t>
            </a:r>
          </a:p>
          <a:p>
            <a:pPr>
              <a:spcAft>
                <a:spcPts val="700"/>
              </a:spcAft>
              <a:defRPr sz="2000" b="0">
                <a:solidFill>
                  <a:srgbClr val="232B35"/>
                </a:solidFill>
                <a:latin typeface="Aptos"/>
              </a:defRPr>
            </a:pPr>
            <a:r>
              <a:t>• Risk considers likelihood and impact.</a:t>
            </a:r>
          </a:p>
          <a:p>
            <a:pPr>
              <a:spcAft>
                <a:spcPts val="700"/>
              </a:spcAft>
              <a:defRPr sz="2000" b="0">
                <a:solidFill>
                  <a:srgbClr val="232B35"/>
                </a:solidFill>
                <a:latin typeface="Aptos"/>
              </a:defRPr>
            </a:pPr>
            <a:r>
              <a:t>• The CIA triad is confidentiality, integrity, and availability.</a:t>
            </a:r>
          </a:p>
          <a:p>
            <a:pPr>
              <a:spcAft>
                <a:spcPts val="700"/>
              </a:spcAft>
              <a:defRPr sz="2000" b="0">
                <a:solidFill>
                  <a:srgbClr val="232B35"/>
                </a:solidFill>
                <a:latin typeface="Aptos"/>
              </a:defRPr>
            </a:pPr>
            <a:r>
              <a:t>• Security controls reduce the likelihood or impact of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892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008791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5778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47382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partha sarathi</cp:lastModifiedBy>
  <cp:revision>2</cp:revision>
  <dcterms:created xsi:type="dcterms:W3CDTF">2013-01-27T09:14:16Z</dcterms:created>
  <dcterms:modified xsi:type="dcterms:W3CDTF">2026-10-20T03:56:06Z</dcterms:modified>
  <cp:category/>
</cp:coreProperties>
</file>