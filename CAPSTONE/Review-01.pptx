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0" r:id="rId3"/>
    <p:sldMasterId id="2147483684" r:id="rId4"/>
    <p:sldMasterId id="2147483700" r:id="rId5"/>
  </p:sldMasterIdLst>
  <p:notesMasterIdLst>
    <p:notesMasterId r:id="rId25"/>
  </p:notesMasterIdLst>
  <p:sldIdLst>
    <p:sldId id="256" r:id="rId6"/>
    <p:sldId id="258" r:id="rId7"/>
    <p:sldId id="273" r:id="rId8"/>
    <p:sldId id="269" r:id="rId9"/>
    <p:sldId id="271" r:id="rId10"/>
    <p:sldId id="278" r:id="rId11"/>
    <p:sldId id="279" r:id="rId12"/>
    <p:sldId id="260" r:id="rId13"/>
    <p:sldId id="277" r:id="rId14"/>
    <p:sldId id="257" r:id="rId15"/>
    <p:sldId id="276" r:id="rId16"/>
    <p:sldId id="270" r:id="rId17"/>
    <p:sldId id="280" r:id="rId18"/>
    <p:sldId id="281" r:id="rId19"/>
    <p:sldId id="264" r:id="rId20"/>
    <p:sldId id="275" r:id="rId21"/>
    <p:sldId id="268" r:id="rId22"/>
    <p:sldId id="274" r:id="rId23"/>
    <p:sldId id="272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07" y="82"/>
      </p:cViewPr>
      <p:guideLst/>
    </p:cSldViewPr>
  </p:slideViewPr>
  <p:outlineViewPr>
    <p:cViewPr>
      <p:scale>
        <a:sx n="33" d="100"/>
        <a:sy n="33" d="100"/>
      </p:scale>
      <p:origin x="0" y="-211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78F1B-9F85-4B6E-8230-3035A5128023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DFB6E-682E-4D63-BA60-8CAB8E794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98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38320" y="808560"/>
            <a:ext cx="4016520" cy="93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/>
          <p:cNvSpPr/>
          <p:nvPr/>
        </p:nvSpPr>
        <p:spPr>
          <a:xfrm>
            <a:off x="416160" y="453960"/>
            <a:ext cx="8341560" cy="42354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8" name="Google Shape;10;p2"/>
          <p:cNvGrpSpPr/>
          <p:nvPr/>
        </p:nvGrpSpPr>
        <p:grpSpPr>
          <a:xfrm>
            <a:off x="8567640" y="453960"/>
            <a:ext cx="190080" cy="4235400"/>
            <a:chOff x="8567640" y="453960"/>
            <a:chExt cx="190080" cy="4235400"/>
          </a:xfrm>
        </p:grpSpPr>
        <p:sp>
          <p:nvSpPr>
            <p:cNvPr id="2" name="Google Shape;11;p2"/>
            <p:cNvSpPr/>
            <p:nvPr/>
          </p:nvSpPr>
          <p:spPr>
            <a:xfrm>
              <a:off x="8567640" y="453960"/>
              <a:ext cx="190080" cy="25495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" name="Google Shape;12;p2"/>
            <p:cNvSpPr/>
            <p:nvPr/>
          </p:nvSpPr>
          <p:spPr>
            <a:xfrm>
              <a:off x="8567640" y="3945240"/>
              <a:ext cx="190080" cy="744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" name="Google Shape;13;p2"/>
            <p:cNvSpPr/>
            <p:nvPr/>
          </p:nvSpPr>
          <p:spPr>
            <a:xfrm>
              <a:off x="8567640" y="3003840"/>
              <a:ext cx="190080" cy="941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42560" y="949680"/>
            <a:ext cx="6349680" cy="94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28;p16"/>
          <p:cNvSpPr/>
          <p:nvPr/>
        </p:nvSpPr>
        <p:spPr>
          <a:xfrm>
            <a:off x="248760" y="232560"/>
            <a:ext cx="8597160" cy="46778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40" name="Google Shape;129;p16"/>
          <p:cNvGrpSpPr/>
          <p:nvPr/>
        </p:nvGrpSpPr>
        <p:grpSpPr>
          <a:xfrm>
            <a:off x="8655480" y="232560"/>
            <a:ext cx="190080" cy="4677840"/>
            <a:chOff x="8655480" y="232560"/>
            <a:chExt cx="190080" cy="4677840"/>
          </a:xfrm>
        </p:grpSpPr>
        <p:sp>
          <p:nvSpPr>
            <p:cNvPr id="41" name="Google Shape;130;p16"/>
            <p:cNvSpPr/>
            <p:nvPr/>
          </p:nvSpPr>
          <p:spPr>
            <a:xfrm>
              <a:off x="8655480" y="232560"/>
              <a:ext cx="190080" cy="28159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42" name="Google Shape;131;p16"/>
            <p:cNvSpPr/>
            <p:nvPr/>
          </p:nvSpPr>
          <p:spPr>
            <a:xfrm>
              <a:off x="8655480" y="3049200"/>
              <a:ext cx="190080" cy="103932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" name="Google Shape;132;p16"/>
            <p:cNvSpPr/>
            <p:nvPr/>
          </p:nvSpPr>
          <p:spPr>
            <a:xfrm>
              <a:off x="8655480" y="4088880"/>
              <a:ext cx="190080" cy="8215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46000" y="1303200"/>
            <a:ext cx="3765600" cy="1343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699440" y="957960"/>
            <a:ext cx="3064680" cy="3227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7;p3"/>
          <p:cNvSpPr/>
          <p:nvPr/>
        </p:nvSpPr>
        <p:spPr>
          <a:xfrm>
            <a:off x="416160" y="453960"/>
            <a:ext cx="8341560" cy="42354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71" name="Google Shape;18;p3"/>
          <p:cNvGrpSpPr/>
          <p:nvPr/>
        </p:nvGrpSpPr>
        <p:grpSpPr>
          <a:xfrm>
            <a:off x="8567640" y="453960"/>
            <a:ext cx="190080" cy="4235400"/>
            <a:chOff x="8567640" y="453960"/>
            <a:chExt cx="190080" cy="4235400"/>
          </a:xfrm>
        </p:grpSpPr>
        <p:sp>
          <p:nvSpPr>
            <p:cNvPr id="72" name="Google Shape;19;p3"/>
            <p:cNvSpPr/>
            <p:nvPr/>
          </p:nvSpPr>
          <p:spPr>
            <a:xfrm>
              <a:off x="8567640" y="453960"/>
              <a:ext cx="190080" cy="25495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" name="Google Shape;20;p3"/>
            <p:cNvSpPr/>
            <p:nvPr/>
          </p:nvSpPr>
          <p:spPr>
            <a:xfrm>
              <a:off x="8567640" y="3945240"/>
              <a:ext cx="190080" cy="744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" name="Google Shape;21;p3"/>
            <p:cNvSpPr/>
            <p:nvPr/>
          </p:nvSpPr>
          <p:spPr>
            <a:xfrm>
              <a:off x="8567640" y="3003840"/>
              <a:ext cx="190080" cy="941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02680" y="920160"/>
            <a:ext cx="7108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7427160" y="3827880"/>
            <a:ext cx="900720" cy="6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strike="noStrike" spc="-1">
                <a:solidFill>
                  <a:schemeClr val="dk1"/>
                </a:solidFill>
                <a:latin typeface="Tiro Kannada"/>
                <a:ea typeface="Tiro Kannada"/>
              </a:rPr>
              <a:t>xx%</a:t>
            </a:r>
            <a:endParaRPr lang="fr-FR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49;p27"/>
          <p:cNvSpPr/>
          <p:nvPr/>
        </p:nvSpPr>
        <p:spPr>
          <a:xfrm>
            <a:off x="416160" y="453960"/>
            <a:ext cx="8341560" cy="42354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17" name="Google Shape;250;p27"/>
          <p:cNvGrpSpPr/>
          <p:nvPr/>
        </p:nvGrpSpPr>
        <p:grpSpPr>
          <a:xfrm>
            <a:off x="8567640" y="453960"/>
            <a:ext cx="190080" cy="4235400"/>
            <a:chOff x="8567640" y="453960"/>
            <a:chExt cx="190080" cy="4235400"/>
          </a:xfrm>
        </p:grpSpPr>
        <p:sp>
          <p:nvSpPr>
            <p:cNvPr id="118" name="Google Shape;251;p27"/>
            <p:cNvSpPr/>
            <p:nvPr/>
          </p:nvSpPr>
          <p:spPr>
            <a:xfrm>
              <a:off x="8567640" y="453960"/>
              <a:ext cx="190080" cy="25495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19" name="Google Shape;252;p27"/>
            <p:cNvSpPr/>
            <p:nvPr/>
          </p:nvSpPr>
          <p:spPr>
            <a:xfrm>
              <a:off x="8567640" y="3945240"/>
              <a:ext cx="190080" cy="744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20" name="Google Shape;253;p27"/>
            <p:cNvSpPr/>
            <p:nvPr/>
          </p:nvSpPr>
          <p:spPr>
            <a:xfrm>
              <a:off x="8567640" y="3003840"/>
              <a:ext cx="190080" cy="941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138320" y="808560"/>
            <a:ext cx="4016520" cy="93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68;p9"/>
          <p:cNvSpPr/>
          <p:nvPr/>
        </p:nvSpPr>
        <p:spPr>
          <a:xfrm>
            <a:off x="416160" y="453960"/>
            <a:ext cx="8341560" cy="42354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72" name="Google Shape;69;p9"/>
          <p:cNvGrpSpPr/>
          <p:nvPr/>
        </p:nvGrpSpPr>
        <p:grpSpPr>
          <a:xfrm>
            <a:off x="8567640" y="453960"/>
            <a:ext cx="190080" cy="4235400"/>
            <a:chOff x="8567640" y="453960"/>
            <a:chExt cx="190080" cy="4235400"/>
          </a:xfrm>
        </p:grpSpPr>
        <p:sp>
          <p:nvSpPr>
            <p:cNvPr id="173" name="Google Shape;70;p9"/>
            <p:cNvSpPr/>
            <p:nvPr/>
          </p:nvSpPr>
          <p:spPr>
            <a:xfrm>
              <a:off x="8567640" y="453960"/>
              <a:ext cx="190080" cy="25495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4" name="Google Shape;71;p9"/>
            <p:cNvSpPr/>
            <p:nvPr/>
          </p:nvSpPr>
          <p:spPr>
            <a:xfrm>
              <a:off x="8567640" y="3945240"/>
              <a:ext cx="190080" cy="744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75" name="Google Shape;72;p9"/>
            <p:cNvSpPr/>
            <p:nvPr/>
          </p:nvSpPr>
          <p:spPr>
            <a:xfrm>
              <a:off x="8567640" y="3003840"/>
              <a:ext cx="190080" cy="9410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102680" y="819360"/>
            <a:ext cx="7207200" cy="105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31947" y="1504089"/>
            <a:ext cx="8537733" cy="104191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Dual-Carrier Framework for Text and Image Steganography with AES Encryption and Exfiltration Detection</a:t>
            </a:r>
            <a:endParaRPr lang="fr-FR" sz="24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ubTitle"/>
          </p:nvPr>
        </p:nvSpPr>
        <p:spPr>
          <a:xfrm>
            <a:off x="5290787" y="3450762"/>
            <a:ext cx="4064229" cy="150377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" sz="14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CHALLA RAVITEJA (192325065)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4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TALAPALA PARTHA SARATHI (192325042)</a:t>
            </a:r>
            <a:endParaRPr lang="en" sz="1400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3" name="Google Shape;280;p33"/>
          <p:cNvCxnSpPr>
            <a:cxnSpLocks/>
          </p:cNvCxnSpPr>
          <p:nvPr/>
        </p:nvCxnSpPr>
        <p:spPr>
          <a:xfrm>
            <a:off x="658013" y="2633928"/>
            <a:ext cx="7898689" cy="0"/>
          </a:xfrm>
          <a:prstGeom prst="straightConnector1">
            <a:avLst/>
          </a:prstGeom>
          <a:ln w="19050">
            <a:solidFill>
              <a:srgbClr val="0E2141"/>
            </a:solidFill>
            <a:round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2D2173E-CFD9-1FC2-9A94-B00097743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18" y="0"/>
            <a:ext cx="8147384" cy="9886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004276-42A3-52C9-9414-B7AC11390CA0}"/>
              </a:ext>
            </a:extLst>
          </p:cNvPr>
          <p:cNvSpPr txBox="1"/>
          <p:nvPr/>
        </p:nvSpPr>
        <p:spPr>
          <a:xfrm>
            <a:off x="1567480" y="2784444"/>
            <a:ext cx="583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CSA5111 - CRYPTOGRAPHY AND NETWORK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7F37B-0B34-5EB3-46D7-37CBC19808E8}"/>
              </a:ext>
            </a:extLst>
          </p:cNvPr>
          <p:cNvSpPr txBox="1"/>
          <p:nvPr/>
        </p:nvSpPr>
        <p:spPr>
          <a:xfrm>
            <a:off x="520504" y="3499999"/>
            <a:ext cx="248998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</a:t>
            </a:r>
            <a:r>
              <a:rPr lang="en-IN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chandrasekaran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2155033" y="492254"/>
            <a:ext cx="4379409" cy="8743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sz="28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3378A-D4FE-3408-011C-955231DE3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FAB996-407E-4F8C-02D1-4AFDA44F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960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4DDBC7-5596-5B72-3D91-1B0C09321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286" y="1365921"/>
            <a:ext cx="5838093" cy="32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is frequently transmitted over the internet and requires secure protection.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encryption secures data but may reveal that confidential communication is taking place.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Ghost Text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encrypts secret data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hides it inside images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steganography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steganalysis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hidden information in suspicious images.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prevent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exfiltration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covert communication and generating security reports.</a:t>
            </a:r>
          </a:p>
        </p:txBody>
      </p:sp>
      <p:pic>
        <p:nvPicPr>
          <p:cNvPr id="5" name="Picture 4" descr="https://images.openai.com/static-rsc-4/6KXbTuRJ2-j2goV-t4zT0nKVf9M07pk0TYryBwqD9Nd_qDTbcPMigACMNAjLvXSoRNfMC_poee24HBB8THanQCH3IMAWlENQSlr_4KceQpYXQDv1bVTwy7Mt0UT1rmI8RC08v-96y_Z1KhA84DA_h1t4P9sZZQLViWd45iRqmP5Zmy7LfBn0g8bUoGq1Z1Vi?purpose=fullsize">
            <a:extLst>
              <a:ext uri="{FF2B5EF4-FFF2-40B4-BE49-F238E27FC236}">
                <a16:creationId xmlns:a16="http://schemas.microsoft.com/office/drawing/2014/main" id="{8F1CB785-9E8F-7C12-40C3-BA56CBB33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379" y="1559611"/>
            <a:ext cx="3038621" cy="28979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AE054-26BF-8D46-7721-C6969D50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>
            <a:extLst>
              <a:ext uri="{FF2B5EF4-FFF2-40B4-BE49-F238E27FC236}">
                <a16:creationId xmlns:a16="http://schemas.microsoft.com/office/drawing/2014/main" id="{C9860360-198F-8235-4676-99C2C6D0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439" y="427815"/>
            <a:ext cx="5308016" cy="677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fr-FR" sz="28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5DE393-1379-40A8-7D65-7D5C6B927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12272B-CE7E-150F-7F60-9EEBBB61E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960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49D6F6-370A-2852-54C0-F904B255CDAB}"/>
              </a:ext>
            </a:extLst>
          </p:cNvPr>
          <p:cNvSpPr txBox="1"/>
          <p:nvPr/>
        </p:nvSpPr>
        <p:spPr>
          <a:xfrm>
            <a:off x="523020" y="1323299"/>
            <a:ext cx="7629208" cy="3042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increasing risks of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data leakage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covert communication.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encryption reveals the presence of sensitive communication, while hidden data in images often goes undetected.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steganography tools mainly focus on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hiding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lack effective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mechanisms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can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hide data, detect hidden information, and prevent data exfiltration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1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CCC95-CE74-15AE-D9E1-949327F8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ro to Cyber Security Risk Management">
            <a:extLst>
              <a:ext uri="{FF2B5EF4-FFF2-40B4-BE49-F238E27FC236}">
                <a16:creationId xmlns:a16="http://schemas.microsoft.com/office/drawing/2014/main" id="{B770502B-39A7-3233-9E5E-399EA6A4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062" y="1259057"/>
            <a:ext cx="3718217" cy="3512587"/>
          </a:xfrm>
          <a:prstGeom prst="rect">
            <a:avLst/>
          </a:prstGeom>
        </p:spPr>
      </p:pic>
      <p:sp>
        <p:nvSpPr>
          <p:cNvPr id="187" name="PlaceHolder 1">
            <a:extLst>
              <a:ext uri="{FF2B5EF4-FFF2-40B4-BE49-F238E27FC236}">
                <a16:creationId xmlns:a16="http://schemas.microsoft.com/office/drawing/2014/main" id="{4C17C1FE-2154-BA6E-CF0A-E5208063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387" y="427815"/>
            <a:ext cx="4379409" cy="677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fr-FR" sz="28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074396-5342-E2B7-A76C-F7351A5AD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19592-2FC3-731E-640A-B518A0137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960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08232A-A41F-F3B2-3377-C3DF084A8390}"/>
              </a:ext>
            </a:extLst>
          </p:cNvPr>
          <p:cNvSpPr txBox="1"/>
          <p:nvPr/>
        </p:nvSpPr>
        <p:spPr>
          <a:xfrm>
            <a:off x="579291" y="1616159"/>
            <a:ext cx="5258802" cy="29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confidential information using AES encryption.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encrypted data inside digital images using LSB steganography.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images containing hidden messages using steganalysis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possible covert data exfiltration attempts.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security reports for analysis.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84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B6921-5A49-297F-4D22-0CDD83F6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915;p67">
            <a:extLst>
              <a:ext uri="{FF2B5EF4-FFF2-40B4-BE49-F238E27FC236}">
                <a16:creationId xmlns:a16="http://schemas.microsoft.com/office/drawing/2014/main" id="{6F579947-3B12-98AB-B274-85481AE050BE}"/>
              </a:ext>
            </a:extLst>
          </p:cNvPr>
          <p:cNvSpPr/>
          <p:nvPr/>
        </p:nvSpPr>
        <p:spPr>
          <a:xfrm>
            <a:off x="1143000" y="4191120"/>
            <a:ext cx="40190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2" name="Google Shape;929;p67">
            <a:extLst>
              <a:ext uri="{FF2B5EF4-FFF2-40B4-BE49-F238E27FC236}">
                <a16:creationId xmlns:a16="http://schemas.microsoft.com/office/drawing/2014/main" id="{EF0B6C1B-F332-9BB1-82C4-6D0FB2B5707F}"/>
              </a:ext>
            </a:extLst>
          </p:cNvPr>
          <p:cNvSpPr/>
          <p:nvPr/>
        </p:nvSpPr>
        <p:spPr>
          <a:xfrm>
            <a:off x="1143000" y="3714840"/>
            <a:ext cx="401904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280" rIns="870823080" bIns="23328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C9478-081A-2EBE-7566-244E0A03D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0F2E78-23C8-33A3-B1FB-9DCAEDAC8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47D59E-96EA-CACF-24E6-8368C72E91B1}"/>
              </a:ext>
            </a:extLst>
          </p:cNvPr>
          <p:cNvSpPr txBox="1"/>
          <p:nvPr/>
        </p:nvSpPr>
        <p:spPr>
          <a:xfrm>
            <a:off x="2112033" y="358123"/>
            <a:ext cx="4621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70B077-8C1A-B498-B7FB-22535F846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05859"/>
              </p:ext>
            </p:extLst>
          </p:nvPr>
        </p:nvGraphicFramePr>
        <p:xfrm>
          <a:off x="626013" y="1407706"/>
          <a:ext cx="7693270" cy="3466508"/>
        </p:xfrm>
        <a:graphic>
          <a:graphicData uri="http://schemas.openxmlformats.org/drawingml/2006/table">
            <a:tbl>
              <a:tblPr/>
              <a:tblGrid>
                <a:gridCol w="429064">
                  <a:extLst>
                    <a:ext uri="{9D8B030D-6E8A-4147-A177-3AD203B41FA5}">
                      <a16:colId xmlns:a16="http://schemas.microsoft.com/office/drawing/2014/main" val="2028729442"/>
                    </a:ext>
                  </a:extLst>
                </a:gridCol>
                <a:gridCol w="569742">
                  <a:extLst>
                    <a:ext uri="{9D8B030D-6E8A-4147-A177-3AD203B41FA5}">
                      <a16:colId xmlns:a16="http://schemas.microsoft.com/office/drawing/2014/main" val="1407755745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1983256938"/>
                    </a:ext>
                  </a:extLst>
                </a:gridCol>
                <a:gridCol w="1564858">
                  <a:extLst>
                    <a:ext uri="{9D8B030D-6E8A-4147-A177-3AD203B41FA5}">
                      <a16:colId xmlns:a16="http://schemas.microsoft.com/office/drawing/2014/main" val="3175839443"/>
                    </a:ext>
                  </a:extLst>
                </a:gridCol>
                <a:gridCol w="1156764">
                  <a:extLst>
                    <a:ext uri="{9D8B030D-6E8A-4147-A177-3AD203B41FA5}">
                      <a16:colId xmlns:a16="http://schemas.microsoft.com/office/drawing/2014/main" val="3808764972"/>
                    </a:ext>
                  </a:extLst>
                </a:gridCol>
                <a:gridCol w="1268710">
                  <a:extLst>
                    <a:ext uri="{9D8B030D-6E8A-4147-A177-3AD203B41FA5}">
                      <a16:colId xmlns:a16="http://schemas.microsoft.com/office/drawing/2014/main" val="1210923542"/>
                    </a:ext>
                  </a:extLst>
                </a:gridCol>
                <a:gridCol w="1318464">
                  <a:extLst>
                    <a:ext uri="{9D8B030D-6E8A-4147-A177-3AD203B41FA5}">
                      <a16:colId xmlns:a16="http://schemas.microsoft.com/office/drawing/2014/main" val="3856691816"/>
                    </a:ext>
                  </a:extLst>
                </a:gridCol>
              </a:tblGrid>
              <a:tr h="42196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Work Summary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/ Components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Study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30327"/>
                  </a:ext>
                </a:extLst>
              </a:tr>
              <a:tr h="70328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Dhawan &amp; Gupta, </a:t>
                      </a: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Security Journal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basic image steganography techniques.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LSB, PVD, DCT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Images, secret messages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LSB is simple and suitable for data hiding.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77"/>
                  </a:ext>
                </a:extLst>
              </a:tr>
              <a:tr h="50687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Siddiqa et al., </a:t>
                      </a: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Security Journal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Security Journal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AES, LSB, Filtering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Text, cover images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that encryption + LSB can improve secure communication.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804941"/>
                  </a:ext>
                </a:extLst>
              </a:tr>
              <a:tr h="75181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Fatma et al., </a:t>
                      </a: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JUSIFO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AES-128 encryption with LSB for secure text transmission.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AES-128, LSB, PSNR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Text, images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practical approach for secure message hiding.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520652"/>
                  </a:ext>
                </a:extLst>
              </a:tr>
              <a:tr h="75181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Aslam et al., </a:t>
                      </a: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 using LSB – Systematic Literature Review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common LSB-based image hiding methods.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LSB, Image Processing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 images, hidden data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Confirms LSB as a widely used and practical technique..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3958" marR="33958" marT="24450" marB="2445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549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98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03A15-EAB6-6DBE-AF5A-58B6D5B3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915;p67">
            <a:extLst>
              <a:ext uri="{FF2B5EF4-FFF2-40B4-BE49-F238E27FC236}">
                <a16:creationId xmlns:a16="http://schemas.microsoft.com/office/drawing/2014/main" id="{C08A27E6-8813-3E08-9BB7-C046A7692760}"/>
              </a:ext>
            </a:extLst>
          </p:cNvPr>
          <p:cNvSpPr/>
          <p:nvPr/>
        </p:nvSpPr>
        <p:spPr>
          <a:xfrm>
            <a:off x="1143000" y="4191120"/>
            <a:ext cx="40190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2" name="Google Shape;929;p67">
            <a:extLst>
              <a:ext uri="{FF2B5EF4-FFF2-40B4-BE49-F238E27FC236}">
                <a16:creationId xmlns:a16="http://schemas.microsoft.com/office/drawing/2014/main" id="{D7752B9D-20B2-4DB1-6577-51BA030352E0}"/>
              </a:ext>
            </a:extLst>
          </p:cNvPr>
          <p:cNvSpPr/>
          <p:nvPr/>
        </p:nvSpPr>
        <p:spPr>
          <a:xfrm>
            <a:off x="1143000" y="3714840"/>
            <a:ext cx="401904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280" rIns="870823080" bIns="23328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0A36B-9411-E657-1FE9-D42A32568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A008D3-95BB-BB2E-2ADC-3D0AC940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E2BC2-0D8D-63C7-723B-42A58C9B0E27}"/>
              </a:ext>
            </a:extLst>
          </p:cNvPr>
          <p:cNvSpPr txBox="1"/>
          <p:nvPr/>
        </p:nvSpPr>
        <p:spPr>
          <a:xfrm>
            <a:off x="1366446" y="464867"/>
            <a:ext cx="611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Its Limitations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B1220-F9B8-2D41-B950-3C3DC89D5246}"/>
              </a:ext>
            </a:extLst>
          </p:cNvPr>
          <p:cNvSpPr txBox="1"/>
          <p:nvPr/>
        </p:nvSpPr>
        <p:spPr>
          <a:xfrm>
            <a:off x="834768" y="1145425"/>
            <a:ext cx="6740684" cy="39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AES encryption protects the confidentiality of message contents.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steganography hides information through text formatting or character patterns.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 embeds data into image pixels using techniques such as LSB.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monitoring tools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traffic, file transfers, or system events.</a:t>
            </a:r>
          </a:p>
          <a:p>
            <a:pPr lvl="0" algn="just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alone does not conceal the existence of a message.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carriers may be damaged by formatting changes.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LSB image steganography may be vulnerable to statistical detection.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tools can make the overall workflow more complicated.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systems may produce false positives or miss suspicious events.</a:t>
            </a:r>
          </a:p>
        </p:txBody>
      </p:sp>
    </p:spTree>
    <p:extLst>
      <p:ext uri="{BB962C8B-B14F-4D97-AF65-F5344CB8AC3E}">
        <p14:creationId xmlns:p14="http://schemas.microsoft.com/office/powerpoint/2010/main" val="60794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45B62-8A4F-50D9-F2D3-1B900D78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915;p67">
            <a:extLst>
              <a:ext uri="{FF2B5EF4-FFF2-40B4-BE49-F238E27FC236}">
                <a16:creationId xmlns:a16="http://schemas.microsoft.com/office/drawing/2014/main" id="{1C048E13-81CB-2337-5C1A-9F96A3F1E046}"/>
              </a:ext>
            </a:extLst>
          </p:cNvPr>
          <p:cNvSpPr/>
          <p:nvPr/>
        </p:nvSpPr>
        <p:spPr>
          <a:xfrm>
            <a:off x="1143000" y="4191120"/>
            <a:ext cx="40190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Symbol"/>
              <a:ea typeface="+mn-ea"/>
              <a:cs typeface="+mn-cs"/>
            </a:endParaRPr>
          </a:p>
        </p:txBody>
      </p:sp>
      <p:sp>
        <p:nvSpPr>
          <p:cNvPr id="232" name="Google Shape;929;p67">
            <a:extLst>
              <a:ext uri="{FF2B5EF4-FFF2-40B4-BE49-F238E27FC236}">
                <a16:creationId xmlns:a16="http://schemas.microsoft.com/office/drawing/2014/main" id="{EC86C51C-E343-A5F2-8F31-0553DBA97A0F}"/>
              </a:ext>
            </a:extLst>
          </p:cNvPr>
          <p:cNvSpPr/>
          <p:nvPr/>
        </p:nvSpPr>
        <p:spPr>
          <a:xfrm>
            <a:off x="1143000" y="3714840"/>
            <a:ext cx="401904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280" rIns="870823080" bIns="233280" anchor="t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0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Symbol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C5507-CA10-8F08-A0D3-C53067D27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3B0B20-3F6F-F988-D920-114CE1290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CB1258-0A34-356D-899C-FCF5D4FF0983}"/>
              </a:ext>
            </a:extLst>
          </p:cNvPr>
          <p:cNvSpPr txBox="1"/>
          <p:nvPr/>
        </p:nvSpPr>
        <p:spPr>
          <a:xfrm>
            <a:off x="1366446" y="464867"/>
            <a:ext cx="611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and Advantages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E214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9EC36-EC4E-7DEF-1F09-89664A439464}"/>
              </a:ext>
            </a:extLst>
          </p:cNvPr>
          <p:cNvSpPr txBox="1"/>
          <p:nvPr/>
        </p:nvSpPr>
        <p:spPr>
          <a:xfrm>
            <a:off x="895685" y="1349407"/>
            <a:ext cx="7352629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lnSpc>
                <a:spcPct val="150000"/>
              </a:lnSpc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application that encrypts a message, hides the encrypted payload in either a text or image carrier,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files or simulated transfer logs for suspicious activity.</a:t>
            </a:r>
          </a:p>
          <a:p>
            <a:pPr>
              <a:lnSpc>
                <a:spcPct val="150000"/>
              </a:lnSpc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encryption and steganography.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two different carrier types.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authenticated encryption to detect payload modification.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common workflow for embedding, extraction, and decryption.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alerts for suspicious data-transfer patterns.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performance and detection results to be compared.</a:t>
            </a:r>
          </a:p>
        </p:txBody>
      </p:sp>
    </p:spTree>
    <p:extLst>
      <p:ext uri="{BB962C8B-B14F-4D97-AF65-F5344CB8AC3E}">
        <p14:creationId xmlns:p14="http://schemas.microsoft.com/office/powerpoint/2010/main" val="196709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959C64-ACAA-62E6-874A-A21ACD6FC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D8F1ED-22E8-206F-5096-AC6913057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8D7B78-0EC3-BB91-C9F4-BDCB8AA148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52" y="978641"/>
            <a:ext cx="6186191" cy="4416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E8FB0-F610-E76C-85D6-F45D27ACB2F5}"/>
              </a:ext>
            </a:extLst>
          </p:cNvPr>
          <p:cNvSpPr txBox="1"/>
          <p:nvPr/>
        </p:nvSpPr>
        <p:spPr>
          <a:xfrm>
            <a:off x="2069830" y="303280"/>
            <a:ext cx="4621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3871E-ED03-8B66-538E-14D01517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EBB53D-B2E7-2EB9-2C5A-3C657F79F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0BD64D-E660-2BB3-2682-53B9AF1B1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C83FC7-2F7D-1161-63CB-8C2932CE0068}"/>
              </a:ext>
            </a:extLst>
          </p:cNvPr>
          <p:cNvSpPr txBox="1"/>
          <p:nvPr/>
        </p:nvSpPr>
        <p:spPr>
          <a:xfrm>
            <a:off x="2295377" y="1736778"/>
            <a:ext cx="5772443" cy="166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Payload Preparation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Dual-Carrier Steganography Engine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Exfiltration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7ADD2-E2FA-5959-D44F-6C28AED508A2}"/>
              </a:ext>
            </a:extLst>
          </p:cNvPr>
          <p:cNvSpPr txBox="1"/>
          <p:nvPr/>
        </p:nvSpPr>
        <p:spPr>
          <a:xfrm>
            <a:off x="2840502" y="534976"/>
            <a:ext cx="3024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192363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713913" y="190771"/>
            <a:ext cx="5716174" cy="94464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Payload Preparation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11229C-A7D3-4D5F-BC13-A2F1D5458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ED13E9-2BDE-F01F-B878-B4D04FB6C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D1489FC-34E8-E80A-1EE5-57390A912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41" y="1837132"/>
            <a:ext cx="4766435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the message before embedding.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plaintext from the sender.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or obtain a secret encryption key.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the message using AES-GCM.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the ciphertext, nonce, and authentication tag.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and secret key.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payload ready for embedding.</a:t>
            </a:r>
          </a:p>
        </p:txBody>
      </p:sp>
      <p:pic>
        <p:nvPicPr>
          <p:cNvPr id="8" name="Picture 7" descr="module_1_crypto_1786632959742.jpg">
            <a:extLst>
              <a:ext uri="{FF2B5EF4-FFF2-40B4-BE49-F238E27FC236}">
                <a16:creationId xmlns:a16="http://schemas.microsoft.com/office/drawing/2014/main" id="{696C6A5D-75CA-16C4-A4F2-A5AE5B148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431" y="1837132"/>
            <a:ext cx="3131128" cy="25603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36C2A-6FC1-6837-05C7-85811755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>
            <a:extLst>
              <a:ext uri="{FF2B5EF4-FFF2-40B4-BE49-F238E27FC236}">
                <a16:creationId xmlns:a16="http://schemas.microsoft.com/office/drawing/2014/main" id="{6B39FCF5-730E-FE26-7BA4-461726F6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5" y="185762"/>
            <a:ext cx="7546609" cy="9924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Dual-Carrier Steganography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E45C2-4C47-7A20-8AEB-2C90204AC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7886A-67F2-E554-6AA5-22ACEE9D2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95B1CF6-FC59-05F5-7A3F-0A9B94918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20" y="1681088"/>
            <a:ext cx="4562452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and recover the encrypted payload.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the sender to select text or image.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the payload in a supported carrier.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resulting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payload at the receiver's end.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payload and carrier file.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and extracted encrypted payload.</a:t>
            </a:r>
          </a:p>
          <a:p>
            <a:pPr algn="just"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module_2_stego_1786633750289.jpg">
            <a:extLst>
              <a:ext uri="{FF2B5EF4-FFF2-40B4-BE49-F238E27FC236}">
                <a16:creationId xmlns:a16="http://schemas.microsoft.com/office/drawing/2014/main" id="{B372DFBB-6078-25FC-DDEF-A74C987F7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885" y="1681088"/>
            <a:ext cx="3204536" cy="26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69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81411-78D8-C961-74EF-AF4DD386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A6D65-F897-F06E-C606-E9F5E31CD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1F4B2-794D-C488-55DD-F477D139F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FF564FD-FEA3-1DC0-2CFB-95687D046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2" y="1428067"/>
            <a:ext cx="5239436" cy="32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suspicious data movement and payload characteristics.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 files and simulated transfer events.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rules for unusual file sizes, transfer volumes, or destinations.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with reasons and severity.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detection outcomes for evaluation.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files, file metadata, and simulated transfer logs.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report, alerts, and event records.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65C13-6E10-32E1-8446-EAB13DE87F53}"/>
              </a:ext>
            </a:extLst>
          </p:cNvPr>
          <p:cNvSpPr txBox="1"/>
          <p:nvPr/>
        </p:nvSpPr>
        <p:spPr>
          <a:xfrm>
            <a:off x="813582" y="198223"/>
            <a:ext cx="72181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Exfiltration Detection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module_3_detector_1786633726524.jpg">
            <a:extLst>
              <a:ext uri="{FF2B5EF4-FFF2-40B4-BE49-F238E27FC236}">
                <a16:creationId xmlns:a16="http://schemas.microsoft.com/office/drawing/2014/main" id="{1C0408CD-A74C-0BF1-1D38-A875973B3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37" y="1622494"/>
            <a:ext cx="3161130" cy="283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A2F94-FCEA-49C0-89C8-7A6E0799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C8F9D7-5DC3-7A2A-AF3B-D953EC2E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3A46A-6588-31E6-39D7-F08AA7E7F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128803-4E29-F236-47EC-CA8908850C19}"/>
              </a:ext>
            </a:extLst>
          </p:cNvPr>
          <p:cNvSpPr txBox="1"/>
          <p:nvPr/>
        </p:nvSpPr>
        <p:spPr>
          <a:xfrm>
            <a:off x="1889912" y="476657"/>
            <a:ext cx="5495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Module-wise Inputs and Outputs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E214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E2FA4E-F14A-3A59-9A73-F6700B217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525909"/>
              </p:ext>
            </p:extLst>
          </p:nvPr>
        </p:nvGraphicFramePr>
        <p:xfrm>
          <a:off x="683541" y="1604542"/>
          <a:ext cx="7622174" cy="1692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0818">
                  <a:extLst>
                    <a:ext uri="{9D8B030D-6E8A-4147-A177-3AD203B41FA5}">
                      <a16:colId xmlns:a16="http://schemas.microsoft.com/office/drawing/2014/main" val="3209023300"/>
                    </a:ext>
                  </a:extLst>
                </a:gridCol>
                <a:gridCol w="1980463">
                  <a:extLst>
                    <a:ext uri="{9D8B030D-6E8A-4147-A177-3AD203B41FA5}">
                      <a16:colId xmlns:a16="http://schemas.microsoft.com/office/drawing/2014/main" val="2520187501"/>
                    </a:ext>
                  </a:extLst>
                </a:gridCol>
                <a:gridCol w="2084696">
                  <a:extLst>
                    <a:ext uri="{9D8B030D-6E8A-4147-A177-3AD203B41FA5}">
                      <a16:colId xmlns:a16="http://schemas.microsoft.com/office/drawing/2014/main" val="410355543"/>
                    </a:ext>
                  </a:extLst>
                </a:gridCol>
                <a:gridCol w="2306197">
                  <a:extLst>
                    <a:ext uri="{9D8B030D-6E8A-4147-A177-3AD203B41FA5}">
                      <a16:colId xmlns:a16="http://schemas.microsoft.com/office/drawing/2014/main" val="3126869588"/>
                    </a:ext>
                  </a:extLst>
                </a:gridCol>
              </a:tblGrid>
              <a:tr h="39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627738"/>
                  </a:ext>
                </a:extLst>
              </a:tr>
              <a:tr h="39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Plaintext,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AES-GCM encryption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Encrypted payload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690624"/>
                  </a:ext>
                </a:extLst>
              </a:tr>
              <a:tr h="39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Payload, text/image carrier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 or extract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Stego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 or recovered payload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07629"/>
                  </a:ext>
                </a:extLst>
              </a:tr>
              <a:tr h="3914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Files, metadata, test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Rules and anomaly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 and detection report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9482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8BBE58-EDF1-AF11-3B6D-75F8E2672A04}"/>
              </a:ext>
            </a:extLst>
          </p:cNvPr>
          <p:cNvSpPr txBox="1"/>
          <p:nvPr/>
        </p:nvSpPr>
        <p:spPr>
          <a:xfrm>
            <a:off x="893299" y="3432517"/>
            <a:ext cx="7202658" cy="10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flow: </a:t>
            </a:r>
          </a:p>
          <a:p>
            <a:pPr algn="just"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Module 1 becomes the input to Module 2. Module 3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test files and transfer events. The receiver then extracts and decrypts the message using Modules 2 and 1.</a:t>
            </a:r>
          </a:p>
        </p:txBody>
      </p:sp>
    </p:spTree>
    <p:extLst>
      <p:ext uri="{BB962C8B-B14F-4D97-AF65-F5344CB8AC3E}">
        <p14:creationId xmlns:p14="http://schemas.microsoft.com/office/powerpoint/2010/main" val="198216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25E89-AC44-9D37-5514-56DADCDB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B3CAFE-5403-336E-61E1-5EA3977EF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147753-395B-C68B-CE92-EDD2EE7F6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ABCF9C-CD0B-2F69-AAB0-0D324962516D}"/>
              </a:ext>
            </a:extLst>
          </p:cNvPr>
          <p:cNvSpPr txBox="1"/>
          <p:nvPr/>
        </p:nvSpPr>
        <p:spPr>
          <a:xfrm>
            <a:off x="1365255" y="264503"/>
            <a:ext cx="6114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Technologies, Tools, Hardware and Software Requirements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E214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0EF297-AAAA-CEA7-26FA-D623CA22A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18308"/>
              </p:ext>
            </p:extLst>
          </p:nvPr>
        </p:nvGraphicFramePr>
        <p:xfrm>
          <a:off x="1478523" y="1442476"/>
          <a:ext cx="6330462" cy="32584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65231">
                  <a:extLst>
                    <a:ext uri="{9D8B030D-6E8A-4147-A177-3AD203B41FA5}">
                      <a16:colId xmlns:a16="http://schemas.microsoft.com/office/drawing/2014/main" val="3509883457"/>
                    </a:ext>
                  </a:extLst>
                </a:gridCol>
                <a:gridCol w="3165231">
                  <a:extLst>
                    <a:ext uri="{9D8B030D-6E8A-4147-A177-3AD203B41FA5}">
                      <a16:colId xmlns:a16="http://schemas.microsoft.com/office/drawing/2014/main" val="3614457752"/>
                    </a:ext>
                  </a:extLst>
                </a:gridCol>
              </a:tblGrid>
              <a:tr h="245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2426297395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3196096041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3711994465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AES-GCM using cryptography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1225268895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processing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Pillow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1174716776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processing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string and file handling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2864604283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analysis using Python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2730784134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tool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2156439559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389669025"/>
                  </a:ext>
                </a:extLst>
              </a:tr>
              <a:tr h="2457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Laptop/PC, 8 GB RAM recommended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4255392428"/>
                  </a:ext>
                </a:extLst>
              </a:tr>
              <a:tr h="2855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marL="63466" marR="63466" marT="31733" marB="3173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files; SQLite if event logging is required</a:t>
                      </a:r>
                    </a:p>
                  </a:txBody>
                  <a:tcPr marL="63466" marR="63466" marT="31733" marB="31733" anchor="ctr"/>
                </a:tc>
                <a:extLst>
                  <a:ext uri="{0D108BD9-81ED-4DB2-BD59-A6C34878D82A}">
                    <a16:rowId xmlns:a16="http://schemas.microsoft.com/office/drawing/2014/main" val="3107091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484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1A9A8E-B873-6865-8819-9E92B3465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83A728-B301-D11D-D63A-F63AAD354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755C37A-3C07-2F4E-5707-2FA658B3B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20" y="1624037"/>
            <a:ext cx="4628881" cy="26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fully functional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sharing platform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developed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were successfully assigned roles (Admin, Manager, User)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distinct access levels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upload, download, and sharing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features worked correctly based on role permissions.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 control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enforced both at the backend and in the frontend interface.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81F1A9-1C65-6534-2250-EB62A763AD48}"/>
              </a:ext>
            </a:extLst>
          </p:cNvPr>
          <p:cNvSpPr txBox="1"/>
          <p:nvPr/>
        </p:nvSpPr>
        <p:spPr>
          <a:xfrm>
            <a:off x="2030400" y="645470"/>
            <a:ext cx="49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6C789-99B0-90EC-98B7-4D5F6C94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DDF74-F52D-E8B5-BA23-7FFB551DE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41FBFD-DC50-21C2-EA24-4E7296AD4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743A54A-3FED-62B2-0CA1-7A339250A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53" y="1607349"/>
            <a:ext cx="7439294" cy="261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Deep Learning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accurate steganalysis and hidden data detection.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system to support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and audio steganography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monitoring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storage and remote analysis.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data integrity and prevent tampering.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exfiltration detection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automated security alerts.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framework for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enterprise-level cybersecurity solutions.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8DDD7-5066-E9AD-DC40-17B838E61E48}"/>
              </a:ext>
            </a:extLst>
          </p:cNvPr>
          <p:cNvSpPr txBox="1"/>
          <p:nvPr/>
        </p:nvSpPr>
        <p:spPr>
          <a:xfrm>
            <a:off x="2030400" y="645470"/>
            <a:ext cx="49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85532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29CFF-CE6F-35A2-A4A9-46A5EAAE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DE7BA-4D5E-D434-3EF4-6A6034B60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996" y="1508094"/>
            <a:ext cx="3174609" cy="2698146"/>
          </a:xfrm>
          <a:prstGeom prst="rect">
            <a:avLst/>
          </a:prstGeom>
        </p:spPr>
      </p:pic>
      <p:sp>
        <p:nvSpPr>
          <p:cNvPr id="214" name="PlaceHolder 1">
            <a:extLst>
              <a:ext uri="{FF2B5EF4-FFF2-40B4-BE49-F238E27FC236}">
                <a16:creationId xmlns:a16="http://schemas.microsoft.com/office/drawing/2014/main" id="{717F4F8F-87E9-0CD2-D5A1-60F1D0B1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69" y="564890"/>
            <a:ext cx="4937041" cy="6389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sz="2800" b="1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ED865-E8B1-A510-1054-7697AFE27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FE0B70-EEA9-0D45-3C43-5B840E2E9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9A0C6D4E-EE89-8D21-F580-CCA49466196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31580" y="1603073"/>
            <a:ext cx="5279903" cy="250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dual-layered approach to secure communication.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Empowers users with both offensive (hiding) and defensive (detection) capabilities.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model operating entirely within the web browser.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that advanced cryptography and steganography can be highly accessible and deeply integrated into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683371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261DD-916D-E860-945C-370D3C9D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915;p67">
            <a:extLst>
              <a:ext uri="{FF2B5EF4-FFF2-40B4-BE49-F238E27FC236}">
                <a16:creationId xmlns:a16="http://schemas.microsoft.com/office/drawing/2014/main" id="{6D1B6547-AC20-539B-68FD-9149A4BB7BC7}"/>
              </a:ext>
            </a:extLst>
          </p:cNvPr>
          <p:cNvSpPr/>
          <p:nvPr/>
        </p:nvSpPr>
        <p:spPr>
          <a:xfrm>
            <a:off x="1143000" y="4191120"/>
            <a:ext cx="40190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2" name="Google Shape;929;p67">
            <a:extLst>
              <a:ext uri="{FF2B5EF4-FFF2-40B4-BE49-F238E27FC236}">
                <a16:creationId xmlns:a16="http://schemas.microsoft.com/office/drawing/2014/main" id="{2175FBB1-9294-D732-011F-7873F20983C8}"/>
              </a:ext>
            </a:extLst>
          </p:cNvPr>
          <p:cNvSpPr/>
          <p:nvPr/>
        </p:nvSpPr>
        <p:spPr>
          <a:xfrm>
            <a:off x="1143000" y="3714840"/>
            <a:ext cx="401904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280" rIns="870823080" bIns="23328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3633F4-FF65-5793-09FE-52164581F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9EBD08-DE82-F062-3732-102FF9849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B1BEC-0520-8DCB-519B-52DB98F8984C}"/>
              </a:ext>
            </a:extLst>
          </p:cNvPr>
          <p:cNvSpPr txBox="1"/>
          <p:nvPr/>
        </p:nvSpPr>
        <p:spPr>
          <a:xfrm>
            <a:off x="1755188" y="403312"/>
            <a:ext cx="4994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4F0F3-B69F-C50C-5027-F43E6BC8A49E}"/>
              </a:ext>
            </a:extLst>
          </p:cNvPr>
          <p:cNvSpPr txBox="1"/>
          <p:nvPr/>
        </p:nvSpPr>
        <p:spPr>
          <a:xfrm>
            <a:off x="221566" y="1535011"/>
            <a:ext cx="8912713" cy="360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Selvaraj, A., Ezhilarasan, A., et al. (2021). Digital Image Steganalysis: A Survey on the Paradigm Shift from Machine Learning to Deep Learning Based Techniques. IET Image Processing, 15(2), 504–522.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King, J.,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Bendiab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Savage, N., &amp;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Shiaeles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(2021). Data Exfiltration: Methods and Detection Countermeasures. 2021 IEEE International Conference on Cyber Security and Resilience (CSR).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Kombrink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H.,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Geradts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 J. M. H., &amp; Worring, M. (2024). Image Steganography Approaches and Their Detection Strategies: A Survey. ACM Computing Surveys, 57(2).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Haverkamp, I., &amp; Sarmah, D. K. (2024). Evaluating the Merits and Constraints of Cryptography–Steganography Fusion: A Systematic Analysis. International Journal of Information Security (Springer).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Tang, W., Yang, H., Rao, Y., Zhou, Z., &amp; Peng, F. (2024). Dig a Hole and Fill in Sand: Adversary and Hiding Decoupled Steganography. Proceedings of ACM Multimedia (MM 2024).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825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0501E-2878-245A-4002-26FD91186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>
            <a:extLst>
              <a:ext uri="{FF2B5EF4-FFF2-40B4-BE49-F238E27FC236}">
                <a16:creationId xmlns:a16="http://schemas.microsoft.com/office/drawing/2014/main" id="{FDA9585F-6D29-9EC5-5069-2F65401B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630" y="1732224"/>
            <a:ext cx="4019040" cy="93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Tiro Kannada"/>
                <a:cs typeface="Times New Roman" panose="02020603050405020304" pitchFamily="18" charset="0"/>
              </a:rPr>
              <a:t>Thank you!</a:t>
            </a:r>
            <a:endParaRPr lang="fr-FR" sz="6000" b="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Google Shape;915;p67">
            <a:extLst>
              <a:ext uri="{FF2B5EF4-FFF2-40B4-BE49-F238E27FC236}">
                <a16:creationId xmlns:a16="http://schemas.microsoft.com/office/drawing/2014/main" id="{5CD74299-9F6C-21A9-FC65-40E7E2C449C4}"/>
              </a:ext>
            </a:extLst>
          </p:cNvPr>
          <p:cNvSpPr/>
          <p:nvPr/>
        </p:nvSpPr>
        <p:spPr>
          <a:xfrm>
            <a:off x="1143000" y="4191120"/>
            <a:ext cx="40190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8520" rIns="870823080" bIns="12852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219" name="Google Shape;916;p67">
            <a:extLst>
              <a:ext uri="{FF2B5EF4-FFF2-40B4-BE49-F238E27FC236}">
                <a16:creationId xmlns:a16="http://schemas.microsoft.com/office/drawing/2014/main" id="{1FF64DEC-052E-8D54-9910-9F9B083CFC4C}"/>
              </a:ext>
            </a:extLst>
          </p:cNvPr>
          <p:cNvCxnSpPr/>
          <p:nvPr/>
        </p:nvCxnSpPr>
        <p:spPr>
          <a:xfrm>
            <a:off x="523020" y="3123504"/>
            <a:ext cx="8256240" cy="360"/>
          </a:xfrm>
          <a:prstGeom prst="straightConnector1">
            <a:avLst/>
          </a:prstGeom>
          <a:ln w="19050">
            <a:solidFill>
              <a:srgbClr val="0E2141"/>
            </a:solidFill>
            <a:round/>
          </a:ln>
        </p:spPr>
      </p:cxnSp>
      <p:sp>
        <p:nvSpPr>
          <p:cNvPr id="232" name="Google Shape;929;p67">
            <a:extLst>
              <a:ext uri="{FF2B5EF4-FFF2-40B4-BE49-F238E27FC236}">
                <a16:creationId xmlns:a16="http://schemas.microsoft.com/office/drawing/2014/main" id="{AA56F98F-B80C-EB70-F3CF-993502E7564D}"/>
              </a:ext>
            </a:extLst>
          </p:cNvPr>
          <p:cNvSpPr/>
          <p:nvPr/>
        </p:nvSpPr>
        <p:spPr>
          <a:xfrm>
            <a:off x="1143000" y="3714840"/>
            <a:ext cx="4019040" cy="46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280" rIns="870823080" bIns="23328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E08EFF-75EF-7707-B3B7-3057B63B5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" y="1"/>
            <a:ext cx="1026599" cy="11052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80998A-6B33-96AB-52CC-AC39915FE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985" y="-5640"/>
            <a:ext cx="1325294" cy="11410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9378343"/>
      </p:ext>
    </p:extLst>
  </p:cSld>
  <p:clrMapOvr>
    <a:masterClrMapping/>
  </p:clrMapOvr>
</p:sld>
</file>

<file path=ppt/theme/theme1.xml><?xml version="1.0" encoding="utf-8"?>
<a:theme xmlns:a="http://schemas.openxmlformats.org/drawingml/2006/main" name="National Defense by Slidesgo">
  <a:themeElements>
    <a:clrScheme name="Simple Light">
      <a:dk1>
        <a:srgbClr val="0E2141"/>
      </a:dk1>
      <a:lt1>
        <a:srgbClr val="E0E0E0"/>
      </a:lt1>
      <a:dk2>
        <a:srgbClr val="FFFFFF"/>
      </a:dk2>
      <a:lt2>
        <a:srgbClr val="2D5494"/>
      </a:lt2>
      <a:accent1>
        <a:srgbClr val="CC0000"/>
      </a:accent1>
      <a:accent2>
        <a:srgbClr val="810C0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21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ational Defense by Slidesgo">
  <a:themeElements>
    <a:clrScheme name="Simple Light">
      <a:dk1>
        <a:srgbClr val="0E2141"/>
      </a:dk1>
      <a:lt1>
        <a:srgbClr val="E0E0E0"/>
      </a:lt1>
      <a:dk2>
        <a:srgbClr val="FFFFFF"/>
      </a:dk2>
      <a:lt2>
        <a:srgbClr val="2D5494"/>
      </a:lt2>
      <a:accent1>
        <a:srgbClr val="CC0000"/>
      </a:accent1>
      <a:accent2>
        <a:srgbClr val="810C0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21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ational Defense by Slidesgo">
  <a:themeElements>
    <a:clrScheme name="Simple Light">
      <a:dk1>
        <a:srgbClr val="0E2141"/>
      </a:dk1>
      <a:lt1>
        <a:srgbClr val="E0E0E0"/>
      </a:lt1>
      <a:dk2>
        <a:srgbClr val="FFFFFF"/>
      </a:dk2>
      <a:lt2>
        <a:srgbClr val="2D5494"/>
      </a:lt2>
      <a:accent1>
        <a:srgbClr val="CC0000"/>
      </a:accent1>
      <a:accent2>
        <a:srgbClr val="810C0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21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ational Defense by Slidesgo">
  <a:themeElements>
    <a:clrScheme name="Simple Light">
      <a:dk1>
        <a:srgbClr val="0E2141"/>
      </a:dk1>
      <a:lt1>
        <a:srgbClr val="E0E0E0"/>
      </a:lt1>
      <a:dk2>
        <a:srgbClr val="FFFFFF"/>
      </a:dk2>
      <a:lt2>
        <a:srgbClr val="2D5494"/>
      </a:lt2>
      <a:accent1>
        <a:srgbClr val="CC0000"/>
      </a:accent1>
      <a:accent2>
        <a:srgbClr val="810C0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21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National Defense by Slidesgo">
  <a:themeElements>
    <a:clrScheme name="Simple Light">
      <a:dk1>
        <a:srgbClr val="0E2141"/>
      </a:dk1>
      <a:lt1>
        <a:srgbClr val="E0E0E0"/>
      </a:lt1>
      <a:dk2>
        <a:srgbClr val="FFFFFF"/>
      </a:dk2>
      <a:lt2>
        <a:srgbClr val="2D5494"/>
      </a:lt2>
      <a:accent1>
        <a:srgbClr val="CC0000"/>
      </a:accent1>
      <a:accent2>
        <a:srgbClr val="810C0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21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1351</Words>
  <Application>Microsoft Office PowerPoint</Application>
  <PresentationFormat>On-screen Show (16:9)</PresentationFormat>
  <Paragraphs>184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Calibri</vt:lpstr>
      <vt:lpstr>OpenSymbol</vt:lpstr>
      <vt:lpstr>Symbol</vt:lpstr>
      <vt:lpstr>Times New Roman</vt:lpstr>
      <vt:lpstr>Tiro Kannada</vt:lpstr>
      <vt:lpstr>Wingdings</vt:lpstr>
      <vt:lpstr>National Defense by Slidesgo</vt:lpstr>
      <vt:lpstr>National Defense by Slidesgo</vt:lpstr>
      <vt:lpstr>National Defense by Slidesgo</vt:lpstr>
      <vt:lpstr>National Defense by Slidesgo</vt:lpstr>
      <vt:lpstr>National Defense by Slidesgo</vt:lpstr>
      <vt:lpstr>A Dual-Carrier Framework for Text and Image Steganography with AES Encryption and Exfiltration Detection</vt:lpstr>
      <vt:lpstr>Introduction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1:  Cryptographic Payload Preparation</vt:lpstr>
      <vt:lpstr>Module 2:  Dual-Carrier Steganography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Ganesh Abburi</dc:creator>
  <cp:lastModifiedBy>Challa Ravi Teja</cp:lastModifiedBy>
  <cp:revision>7</cp:revision>
  <dcterms:modified xsi:type="dcterms:W3CDTF">2026-10-21T13:32:51Z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2025-03-17T08:30:18Z</dcterms:created>
  <dc:creator>Unknown Creator</dc:creator>
  <dc:description/>
  <dc:language>en-US</dc:language>
  <cp:lastModifiedBy>Unknown Creator</cp:lastModifiedBy>
  <dcterms:modified xsi:type="dcterms:W3CDTF">2025-03-17T08:30:18Z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